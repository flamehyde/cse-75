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71" r:id="rId4"/>
    <p:sldId id="272" r:id="rId5"/>
    <p:sldId id="268" r:id="rId6"/>
    <p:sldId id="265" r:id="rId7"/>
    <p:sldId id="274" r:id="rId8"/>
    <p:sldId id="276" r:id="rId9"/>
    <p:sldId id="277" r:id="rId10"/>
    <p:sldId id="270" r:id="rId11"/>
    <p:sldId id="27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C89D275B-78AB-9799-4CC6-CAF454A835CE}"/>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4CB3B7AD-3B67-0E49-DAFF-00D669BE08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8062736A-A2DE-1488-C863-E6FF8A3604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6348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3A3EB4D9-BF48-82E5-C3A5-2C9A9B3195ED}"/>
            </a:ext>
          </a:extLst>
        </p:cNvPr>
        <p:cNvGrpSpPr/>
        <p:nvPr/>
      </p:nvGrpSpPr>
      <p:grpSpPr>
        <a:xfrm>
          <a:off x="0" y="0"/>
          <a:ext cx="0" cy="0"/>
          <a:chOff x="0" y="0"/>
          <a:chExt cx="0" cy="0"/>
        </a:xfrm>
      </p:grpSpPr>
      <p:sp>
        <p:nvSpPr>
          <p:cNvPr id="141" name="Google Shape;141;p10:notes">
            <a:extLst>
              <a:ext uri="{FF2B5EF4-FFF2-40B4-BE49-F238E27FC236}">
                <a16:creationId xmlns:a16="http://schemas.microsoft.com/office/drawing/2014/main" id="{48FC6B33-5BCA-EF95-BAB9-40E386C2A0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a:extLst>
              <a:ext uri="{FF2B5EF4-FFF2-40B4-BE49-F238E27FC236}">
                <a16:creationId xmlns:a16="http://schemas.microsoft.com/office/drawing/2014/main" id="{6F201E49-6AB0-F5B0-BA54-C403610406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2044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dirty="0"/>
              <a:t>Domain Name Server (DNS) Filtering Service using Threat Intelligence feeds and AI/ML Techniques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1915180" y="2322576"/>
            <a:ext cx="4391131" cy="65912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 75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516771" y="230302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a:t>
            </a:r>
            <a:r>
              <a:rPr lang="en-GB" sz="1700" b="1" dirty="0">
                <a:solidFill>
                  <a:srgbClr val="17365D"/>
                </a:solidFill>
                <a:latin typeface="Cambria" panose="02040503050406030204" pitchFamily="18" charset="0"/>
                <a:ea typeface="Cambria" panose="02040503050406030204" pitchFamily="18" charset="0"/>
                <a:cs typeface="Verdana"/>
                <a:sym typeface="Verdana"/>
              </a:rPr>
              <a:t>Ayesha Taranum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327680889"/>
              </p:ext>
            </p:extLst>
          </p:nvPr>
        </p:nvGraphicFramePr>
        <p:xfrm>
          <a:off x="690507" y="3041880"/>
          <a:ext cx="5418675" cy="30175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469488">
                <a:tc>
                  <a:txBody>
                    <a:bodyPr/>
                    <a:lstStyle/>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Roll Number 20221CSE0309</a:t>
                      </a:r>
                    </a:p>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20221CSE0346</a:t>
                      </a:r>
                    </a:p>
                    <a:p>
                      <a:pPr marL="0" marR="0" lvl="1"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20221CSE0367</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Student Name</a:t>
                      </a:r>
                    </a:p>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Saish </a:t>
                      </a:r>
                      <a:r>
                        <a:rPr lang="en-GB" sz="1800" b="1" u="none" strike="noStrike" cap="none" dirty="0" err="1">
                          <a:solidFill>
                            <a:srgbClr val="17365D"/>
                          </a:solidFill>
                          <a:latin typeface="Cambria" panose="02040503050406030204" pitchFamily="18" charset="0"/>
                          <a:ea typeface="Cambria" panose="02040503050406030204" pitchFamily="18" charset="0"/>
                        </a:rPr>
                        <a:t>Savadatti</a:t>
                      </a:r>
                      <a:endParaRPr lang="en-GB" sz="1800" b="1" u="none" strike="noStrike" cap="none" dirty="0">
                        <a:solidFill>
                          <a:srgbClr val="17365D"/>
                        </a:solidFill>
                        <a:latin typeface="Cambria" panose="02040503050406030204" pitchFamily="18" charset="0"/>
                        <a:ea typeface="Cambria" panose="02040503050406030204" pitchFamily="18" charset="0"/>
                      </a:endParaRPr>
                    </a:p>
                    <a:p>
                      <a:pPr marL="0" marR="0" lvl="0" indent="0" algn="ctr" rtl="0">
                        <a:spcBef>
                          <a:spcPts val="0"/>
                        </a:spcBef>
                        <a:spcAft>
                          <a:spcPts val="0"/>
                        </a:spcAft>
                        <a:buNone/>
                      </a:pPr>
                      <a:r>
                        <a:rPr lang="en-GB" sz="1800" b="1" u="none" strike="noStrike" cap="none" dirty="0">
                          <a:solidFill>
                            <a:srgbClr val="17365D"/>
                          </a:solidFill>
                          <a:latin typeface="Cambria" panose="02040503050406030204" pitchFamily="18" charset="0"/>
                          <a:ea typeface="Cambria" panose="02040503050406030204" pitchFamily="18" charset="0"/>
                        </a:rPr>
                        <a:t>Suhas C</a:t>
                      </a:r>
                    </a:p>
                    <a:p>
                      <a:pPr marL="0" marR="0" lvl="0" indent="0" algn="ctr" rtl="0">
                        <a:spcBef>
                          <a:spcPts val="0"/>
                        </a:spcBef>
                        <a:spcAft>
                          <a:spcPts val="0"/>
                        </a:spcAft>
                        <a:buNone/>
                      </a:pPr>
                      <a:r>
                        <a:rPr lang="en-GB" sz="1800" b="1" u="none" strike="noStrike" cap="none" dirty="0" err="1">
                          <a:solidFill>
                            <a:srgbClr val="17365D"/>
                          </a:solidFill>
                          <a:latin typeface="Cambria" panose="02040503050406030204" pitchFamily="18" charset="0"/>
                          <a:ea typeface="Cambria" panose="02040503050406030204" pitchFamily="18" charset="0"/>
                        </a:rPr>
                        <a:t>Lingana</a:t>
                      </a:r>
                      <a:r>
                        <a:rPr lang="en-GB" sz="1800" b="1" u="none" strike="noStrike" cap="none" dirty="0">
                          <a:solidFill>
                            <a:srgbClr val="17365D"/>
                          </a:solidFill>
                          <a:latin typeface="Cambria" panose="02040503050406030204" pitchFamily="18" charset="0"/>
                          <a:ea typeface="Cambria" panose="02040503050406030204" pitchFamily="18" charset="0"/>
                        </a:rPr>
                        <a:t> Gouda</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44461">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4446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4446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4446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4446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3390009" y="127297"/>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000" b="1" dirty="0">
                <a:solidFill>
                  <a:srgbClr val="17365D"/>
                </a:solidFill>
                <a:latin typeface="Verdana" panose="020B0604030504040204" pitchFamily="34" charset="0"/>
                <a:ea typeface="Verdana" panose="020B0604030504040204" pitchFamily="34" charset="0"/>
                <a:cs typeface="Verdana"/>
                <a:sym typeface="Verdana"/>
              </a:rPr>
              <a:t>CSE7101-</a:t>
            </a:r>
            <a:r>
              <a:rPr lang="en-GB" sz="2000" b="1" i="0" u="none" strike="noStrike" cap="none" dirty="0">
                <a:solidFill>
                  <a:srgbClr val="17365D"/>
                </a:solidFill>
                <a:latin typeface="Verdana" panose="020B0604030504040204" pitchFamily="34" charset="0"/>
                <a:ea typeface="Verdana" panose="020B0604030504040204" pitchFamily="34" charset="0"/>
                <a:cs typeface="Verdana"/>
                <a:sym typeface="Verdana"/>
              </a:rPr>
              <a:t> Capstone Project</a:t>
            </a:r>
            <a:endParaRPr sz="2000" dirty="0">
              <a:latin typeface="Verdana" panose="020B0604030504040204" pitchFamily="34" charset="0"/>
              <a:ea typeface="Verdana" panose="020B0604030504040204" pitchFamily="34"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Verdana" panose="020B0604030504040204" pitchFamily="34" charset="0"/>
                <a:ea typeface="Verdana" panose="020B0604030504040204" pitchFamily="34" charset="0"/>
                <a:cs typeface="Verdana"/>
                <a:sym typeface="Verdana"/>
              </a:rPr>
              <a:t>Review-2</a:t>
            </a:r>
            <a:endParaRPr sz="2000" b="1" i="0" u="none" strike="noStrike" cap="none" dirty="0">
              <a:solidFill>
                <a:srgbClr val="17365D"/>
              </a:solidFill>
              <a:latin typeface="Verdana" panose="020B0604030504040204" pitchFamily="34" charset="0"/>
              <a:ea typeface="Verdana" panose="020B0604030504040204" pitchFamily="34" charset="0"/>
              <a:cs typeface="Verdana"/>
              <a:sym typeface="Verdana"/>
            </a:endParaRPr>
          </a:p>
        </p:txBody>
      </p:sp>
      <p:sp>
        <p:nvSpPr>
          <p:cNvPr id="8" name="Google Shape;91;p13"/>
          <p:cNvSpPr txBox="1"/>
          <p:nvPr/>
        </p:nvSpPr>
        <p:spPr>
          <a:xfrm>
            <a:off x="822961" y="4497324"/>
            <a:ext cx="11603736"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err="1">
                <a:solidFill>
                  <a:srgbClr val="C00000"/>
                </a:solidFill>
                <a:latin typeface="Cambria" panose="02040503050406030204" pitchFamily="18" charset="0"/>
                <a:ea typeface="Cambria" panose="02040503050406030204" pitchFamily="18" charset="0"/>
                <a:cs typeface="Verdana"/>
                <a:sym typeface="Verdana"/>
              </a:rPr>
              <a:t>B.Tech</a:t>
            </a:r>
            <a:endParaRPr lang="en-US" sz="1800" b="1" i="0" u="none" strike="noStrike" cap="none" dirty="0">
              <a:solidFill>
                <a:srgbClr val="C00000"/>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Mohamed H B</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err="1">
                <a:solidFill>
                  <a:srgbClr val="FF0000"/>
                </a:solidFill>
                <a:latin typeface="Cambria" panose="02040503050406030204" pitchFamily="18" charset="0"/>
                <a:ea typeface="Cambria" panose="02040503050406030204" pitchFamily="18" charset="0"/>
                <a:cs typeface="Verdana"/>
                <a:sym typeface="Verdana"/>
              </a:rPr>
              <a:t>D</a:t>
            </a:r>
            <a:r>
              <a:rPr lang="en-US" sz="1800" b="1" dirty="0" err="1">
                <a:solidFill>
                  <a:srgbClr val="FF0000"/>
                </a:solidFill>
                <a:latin typeface="Cambria" panose="02040503050406030204" pitchFamily="18" charset="0"/>
                <a:ea typeface="Cambria" panose="02040503050406030204" pitchFamily="18" charset="0"/>
                <a:cs typeface="Verdana"/>
                <a:sym typeface="Verdana"/>
              </a:rPr>
              <a:t>r.Jayavadivel</a:t>
            </a:r>
            <a:r>
              <a:rPr lang="en-US" sz="1800" b="1" dirty="0">
                <a:solidFill>
                  <a:srgbClr val="FF0000"/>
                </a:solidFill>
                <a:latin typeface="Cambria" panose="02040503050406030204" pitchFamily="18" charset="0"/>
                <a:ea typeface="Cambria" panose="02040503050406030204" pitchFamily="18" charset="0"/>
                <a:cs typeface="Verdana"/>
                <a:sym typeface="Verdana"/>
              </a:rPr>
              <a:t>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rgbClr val="C00000"/>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rgbClr val="C00000"/>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rgbClr val="C00000"/>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rgbClr val="C00000"/>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rgbClr val="C00000"/>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rgbClr val="C00000"/>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42220"/>
            <a:ext cx="11083934" cy="5112774"/>
          </a:xfrm>
          <a:prstGeom prst="rect">
            <a:avLst/>
          </a:prstGeom>
          <a:noFill/>
          <a:ln>
            <a:noFill/>
          </a:ln>
        </p:spPr>
        <p:txBody>
          <a:bodyPr spcFirstLastPara="1" wrap="square" lIns="91425" tIns="45700" rIns="91425" bIns="45700" anchor="t" anchorCtr="0">
            <a:normAutofit fontScale="85000" lnSpcReduction="20000"/>
          </a:bodyPr>
          <a:lstStyle/>
          <a:p>
            <a:pPr marL="495300" indent="-342900" algn="just">
              <a:lnSpc>
                <a:spcPct val="200000"/>
              </a:lnSpc>
              <a:spcBef>
                <a:spcPts val="0"/>
              </a:spcBef>
              <a:buFont typeface="Arial" panose="020B0604020202020204" pitchFamily="34" charset="0"/>
              <a:buChar char="•"/>
            </a:pPr>
            <a:r>
              <a:rPr lang="en-IN" dirty="0"/>
              <a:t>Abstract</a:t>
            </a:r>
            <a:endParaRPr lang="en-US" dirty="0">
              <a:latin typeface="Verdana" panose="020B0604030504040204" pitchFamily="34" charset="0"/>
              <a:ea typeface="Verdana" panose="020B0604030504040204" pitchFamily="34" charset="0"/>
            </a:endParaRPr>
          </a:p>
          <a:p>
            <a:pPr marL="495300" indent="-342900" algn="just">
              <a:lnSpc>
                <a:spcPct val="200000"/>
              </a:lnSpc>
              <a:spcBef>
                <a:spcPts val="0"/>
              </a:spcBef>
              <a:buFont typeface="Arial" panose="020B0604020202020204" pitchFamily="34" charset="0"/>
              <a:buChar char="•"/>
            </a:pPr>
            <a:r>
              <a:rPr lang="en-IN" dirty="0"/>
              <a:t>Objectives</a:t>
            </a:r>
          </a:p>
          <a:p>
            <a:pPr marL="495300" indent="-342900" algn="just">
              <a:lnSpc>
                <a:spcPct val="200000"/>
              </a:lnSpc>
              <a:spcBef>
                <a:spcPts val="0"/>
              </a:spcBef>
              <a:buFont typeface="Arial" panose="020B0604020202020204" pitchFamily="34" charset="0"/>
              <a:buChar char="•"/>
            </a:pPr>
            <a:r>
              <a:rPr lang="en-IN" dirty="0"/>
              <a:t>Existing Methods and Drawbacks</a:t>
            </a:r>
          </a:p>
          <a:p>
            <a:pPr marL="495300" indent="-342900" algn="just">
              <a:lnSpc>
                <a:spcPct val="200000"/>
              </a:lnSpc>
              <a:spcBef>
                <a:spcPts val="0"/>
              </a:spcBef>
              <a:buFont typeface="Arial" panose="020B0604020202020204" pitchFamily="34" charset="0"/>
              <a:buChar char="•"/>
            </a:pPr>
            <a:r>
              <a:rPr lang="en-IN" dirty="0"/>
              <a:t>Proposed Method &amp; Feasibility Study</a:t>
            </a:r>
          </a:p>
          <a:p>
            <a:pPr marL="495300" indent="-342900" algn="just">
              <a:lnSpc>
                <a:spcPct val="200000"/>
              </a:lnSpc>
              <a:spcBef>
                <a:spcPts val="0"/>
              </a:spcBef>
              <a:buFont typeface="Arial" panose="020B0604020202020204" pitchFamily="34" charset="0"/>
              <a:buChar char="•"/>
            </a:pPr>
            <a:r>
              <a:rPr lang="en-IN" dirty="0"/>
              <a:t>Architecture Diagram</a:t>
            </a:r>
          </a:p>
          <a:p>
            <a:pPr marL="495300" indent="-342900" algn="just">
              <a:lnSpc>
                <a:spcPct val="200000"/>
              </a:lnSpc>
              <a:spcBef>
                <a:spcPts val="0"/>
              </a:spcBef>
              <a:buFont typeface="Arial" panose="020B0604020202020204" pitchFamily="34" charset="0"/>
              <a:buChar char="•"/>
            </a:pPr>
            <a:r>
              <a:rPr lang="en-IN" dirty="0"/>
              <a:t>Modules</a:t>
            </a:r>
            <a:endParaRPr lang="en-US" dirty="0">
              <a:latin typeface="Verdana" panose="020B0604030504040204" pitchFamily="34" charset="0"/>
              <a:ea typeface="Verdana" panose="020B0604030504040204" pitchFamily="34" charset="0"/>
            </a:endParaRPr>
          </a:p>
          <a:p>
            <a:pPr marL="495300" lvl="0" indent="-342900" algn="just">
              <a:lnSpc>
                <a:spcPct val="200000"/>
              </a:lnSpc>
              <a:spcBef>
                <a:spcPts val="0"/>
              </a:spcBef>
              <a:buFont typeface="Arial" panose="020B0604020202020204" pitchFamily="34" charset="0"/>
              <a:buChar char="•"/>
            </a:pPr>
            <a:r>
              <a:rPr lang="en-IN" dirty="0"/>
              <a:t>Hardware and Software Details</a:t>
            </a:r>
          </a:p>
          <a:p>
            <a:pPr marL="495300" indent="-342900" algn="just">
              <a:lnSpc>
                <a:spcPct val="200000"/>
              </a:lnSpc>
              <a:spcBef>
                <a:spcPts val="0"/>
              </a:spcBef>
              <a:buFont typeface="Arial" panose="020B0604020202020204" pitchFamily="34" charset="0"/>
              <a:buChar char="•"/>
            </a:pPr>
            <a:r>
              <a:rPr lang="en-IN" dirty="0"/>
              <a:t>Timeline (Gantt Chart)</a:t>
            </a:r>
          </a:p>
          <a:p>
            <a:pPr marL="495300" indent="-342900" algn="just">
              <a:lnSpc>
                <a:spcPct val="200000"/>
              </a:lnSpc>
              <a:spcBef>
                <a:spcPts val="0"/>
              </a:spcBef>
              <a:buFont typeface="Arial" panose="020B0604020202020204" pitchFamily="34" charset="0"/>
              <a:buChar char="•"/>
            </a:pPr>
            <a:r>
              <a:rPr lang="en-IN" dirty="0"/>
              <a:t>References</a:t>
            </a:r>
          </a:p>
          <a:p>
            <a:pPr marL="495300" indent="-342900" algn="just">
              <a:lnSpc>
                <a:spcPct val="200000"/>
              </a:lnSpc>
              <a:spcBef>
                <a:spcPts val="0"/>
              </a:spcBef>
              <a:buFont typeface="Arial" panose="020B0604020202020204" pitchFamily="34" charset="0"/>
              <a:buChar char="•"/>
            </a:pPr>
            <a:endParaRPr lang="en-IN" dirty="0"/>
          </a:p>
          <a:p>
            <a:pPr marL="495300" lvl="0" indent="-342900" algn="just">
              <a:lnSpc>
                <a:spcPct val="200000"/>
              </a:lnSpc>
              <a:spcBef>
                <a:spcPts val="0"/>
              </a:spcBef>
              <a:buFont typeface="Arial" panose="020B0604020202020204" pitchFamily="34" charset="0"/>
              <a:buChar char="•"/>
            </a:pPr>
            <a:endParaRPr lang="en-IN" dirty="0"/>
          </a:p>
          <a:p>
            <a:pPr marL="495300" lvl="0" indent="-342900" algn="just">
              <a:lnSpc>
                <a:spcPct val="200000"/>
              </a:lnSpc>
              <a:spcBef>
                <a:spcPts val="0"/>
              </a:spcBef>
              <a:buFont typeface="Arial" panose="020B0604020202020204" pitchFamily="34" charset="0"/>
              <a:buChar char="•"/>
            </a:pPr>
            <a:endParaRPr lang="en-US" dirty="0">
              <a:latin typeface="Verdana" panose="020B0604030504040204" pitchFamily="34" charset="0"/>
              <a:ea typeface="Verdana" panose="020B0604030504040204" pitchFamily="34"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342900" lvl="0" indent="-190500" algn="just">
              <a:lnSpc>
                <a:spcPct val="200000"/>
              </a:lnSpc>
              <a:spcBef>
                <a:spcPts val="0"/>
              </a:spcBef>
              <a:buSzPct val="100000"/>
              <a:buNone/>
            </a:pPr>
            <a:r>
              <a:rPr lang="en-US" b="1" dirty="0"/>
              <a:t>  The Domain Name System is important for the working of the internet. Attackers target DNS for harmful actions.  Traditional DNS filtering methods rely on blocklists and can’t detect unknown or new domains. In this paper we examine a DNS filtering solution that uses machine learning and live threat intelligence feeds to continuously classify domain types and provide the domain reputation in real time. By utilizing these techniques, it is possible to identify suspicious domains sooner and with better accuracy. This strengthens network security and we can deal with evolving threats</a:t>
            </a:r>
            <a:endParaRPr dirty="0"/>
          </a:p>
        </p:txBody>
      </p:sp>
      <p:sp>
        <p:nvSpPr>
          <p:cNvPr id="3" name="Title 2">
            <a:extLst>
              <a:ext uri="{FF2B5EF4-FFF2-40B4-BE49-F238E27FC236}">
                <a16:creationId xmlns:a16="http://schemas.microsoft.com/office/drawing/2014/main" id="{33D73294-99FD-7092-E500-8D4D5AECF455}"/>
              </a:ext>
            </a:extLst>
          </p:cNvPr>
          <p:cNvSpPr>
            <a:spLocks noGrp="1"/>
          </p:cNvSpPr>
          <p:nvPr>
            <p:ph type="title"/>
          </p:nvPr>
        </p:nvSpPr>
        <p:spPr/>
        <p:txBody>
          <a:bodyPr/>
          <a:lstStyle/>
          <a:p>
            <a:r>
              <a:rPr lang="en-US" dirty="0"/>
              <a:t>Abstract</a:t>
            </a:r>
            <a:endParaRPr lang="en-IN" dirty="0"/>
          </a:p>
        </p:txBody>
      </p:sp>
    </p:spTree>
    <p:extLst>
      <p:ext uri="{BB962C8B-B14F-4D97-AF65-F5344CB8AC3E}">
        <p14:creationId xmlns:p14="http://schemas.microsoft.com/office/powerpoint/2010/main" val="200045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Objectives</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r>
              <a:rPr lang="en-IN" dirty="0"/>
              <a:t>Core DNS Resolver – Python-based proxy, forwards legit queries to upstream (e.g., 8.8.8.8)</a:t>
            </a:r>
          </a:p>
          <a:p>
            <a:r>
              <a:rPr lang="en-IN" dirty="0"/>
              <a:t>Threat Intelligence – Integrate 2+ open-source feeds (STIX format)</a:t>
            </a:r>
          </a:p>
          <a:p>
            <a:r>
              <a:rPr lang="en-IN" dirty="0"/>
              <a:t>AI/ML Classifier – Random Forest/Logistic Regression, &gt;90% accuracy for DGA detection</a:t>
            </a:r>
          </a:p>
          <a:p>
            <a:r>
              <a:rPr lang="en-IN" dirty="0"/>
              <a:t>DNS </a:t>
            </a:r>
            <a:r>
              <a:rPr lang="en-IN" dirty="0" err="1"/>
              <a:t>Tunneling</a:t>
            </a:r>
            <a:r>
              <a:rPr lang="en-IN" dirty="0"/>
              <a:t> Detection – Heuristic checks (entropy, length, TXT/NULL records)</a:t>
            </a:r>
          </a:p>
          <a:p>
            <a:r>
              <a:rPr lang="en-IN" dirty="0"/>
              <a:t>High Performance – In-memory LRU cache, &lt;100ms lookup time</a:t>
            </a:r>
          </a:p>
          <a:p>
            <a:r>
              <a:rPr lang="en-IN" dirty="0"/>
              <a:t>Web Dashboard – </a:t>
            </a:r>
            <a:r>
              <a:rPr lang="en-IN" dirty="0" err="1"/>
              <a:t>FastAPI</a:t>
            </a:r>
            <a:r>
              <a:rPr lang="en-IN" dirty="0"/>
              <a:t> + Bootstrap, real-time stats &amp; domain lookup</a:t>
            </a:r>
          </a:p>
          <a:p>
            <a:pPr marL="76200" indent="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60400" y="807900"/>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r>
              <a:rPr lang="en-IN" dirty="0"/>
              <a:t>Existing Methods and Drawbacks</a:t>
            </a:r>
            <a:br>
              <a:rPr lang="en-IN" dirty="0"/>
            </a:b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585019" y="990600"/>
            <a:ext cx="11428362" cy="44831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dirty="0"/>
              <a:t>Static Blacklisting → Fast, simple, low overhead; but reactive, fails on zero-day threats</a:t>
            </a:r>
          </a:p>
          <a:p>
            <a:r>
              <a:rPr lang="en-IN" dirty="0"/>
              <a:t>Commercial Secure DNS → Reliable, scalable, strong intel; but costly, privacy issues, limited customization</a:t>
            </a:r>
          </a:p>
          <a:p>
            <a:r>
              <a:rPr lang="en-IN" dirty="0"/>
              <a:t>Signature-Based IDS/IPS → Blocks known patterns; but needs updates, evadable with </a:t>
            </a:r>
            <a:r>
              <a:rPr lang="en-IN" dirty="0" err="1"/>
              <a:t>DoH</a:t>
            </a:r>
            <a:r>
              <a:rPr lang="en-IN" dirty="0"/>
              <a:t>/DoT</a:t>
            </a:r>
          </a:p>
          <a:p>
            <a:r>
              <a:rPr lang="en-IN" dirty="0"/>
              <a:t>ML-Based Solutions → Proactive, good for DGAs/zero-day; but higher latency, false positives, resource-heavy</a:t>
            </a:r>
          </a:p>
          <a:p>
            <a:r>
              <a:rPr lang="en-IN" dirty="0"/>
              <a:t>Gap → No single method is sufficient → need hybrid approach</a:t>
            </a:r>
          </a:p>
          <a:p>
            <a:pPr marL="342900" indent="-190500" algn="just">
              <a:spcBef>
                <a:spcPts val="0"/>
              </a:spcBef>
              <a:buSzPct val="100000"/>
              <a:buFont typeface="Arial"/>
              <a:buNone/>
            </a:pPr>
            <a:endParaRPr lang="en-US" b="1" dirty="0">
              <a:solidFill>
                <a:schemeClr val="accent2">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762000" y="372960"/>
            <a:ext cx="10668000" cy="983891"/>
          </a:xfrm>
          <a:prstGeom prst="rect">
            <a:avLst/>
          </a:prstGeom>
          <a:noFill/>
          <a:ln>
            <a:noFill/>
          </a:ln>
        </p:spPr>
        <p:txBody>
          <a:bodyPr spcFirstLastPara="1" wrap="square" lIns="91425" tIns="45700" rIns="91425" bIns="45700" anchor="ctr" anchorCtr="0">
            <a:noAutofit/>
          </a:bodyPr>
          <a:lstStyle/>
          <a:p>
            <a:r>
              <a:rPr lang="en-IN" dirty="0"/>
              <a:t>Proposed Method &amp; Feasibility Study</a:t>
            </a:r>
            <a:br>
              <a:rPr lang="en-IN" dirty="0"/>
            </a:b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29265" y="1022556"/>
            <a:ext cx="11287432" cy="5378244"/>
          </a:xfrm>
          <a:prstGeom prst="rect">
            <a:avLst/>
          </a:prstGeom>
          <a:noFill/>
          <a:ln>
            <a:noFill/>
          </a:ln>
        </p:spPr>
        <p:txBody>
          <a:bodyPr spcFirstLastPara="1" wrap="square" lIns="91425" tIns="45700" rIns="91425" bIns="45700" anchor="t" anchorCtr="0">
            <a:normAutofit fontScale="32500" lnSpcReduction="20000"/>
          </a:bodyPr>
          <a:lstStyle/>
          <a:p>
            <a:pPr marL="76200" indent="0">
              <a:buNone/>
            </a:pPr>
            <a:r>
              <a:rPr lang="en-IN" sz="5500" b="1" dirty="0"/>
              <a:t>Query Processing Pipeline</a:t>
            </a:r>
            <a:endParaRPr lang="en-IN" sz="5500" dirty="0"/>
          </a:p>
          <a:p>
            <a:r>
              <a:rPr lang="en-IN" sz="5500" dirty="0"/>
              <a:t>Cache Lookup → Immediate response if cached (low latency)</a:t>
            </a:r>
          </a:p>
          <a:p>
            <a:r>
              <a:rPr lang="en-IN" sz="5500" dirty="0"/>
              <a:t>Whitelist Check → Trusted domains bypass checks</a:t>
            </a:r>
          </a:p>
          <a:p>
            <a:r>
              <a:rPr lang="en-IN" sz="5500" dirty="0"/>
              <a:t>Threat Intel Blacklist → Block if domain matches feeds</a:t>
            </a:r>
          </a:p>
          <a:p>
            <a:r>
              <a:rPr lang="en-IN" sz="5500" dirty="0"/>
              <a:t>AI/ML Classification → Detect DGAs using lexical features</a:t>
            </a:r>
          </a:p>
          <a:p>
            <a:r>
              <a:rPr lang="en-IN" sz="5500" dirty="0"/>
              <a:t>DNS </a:t>
            </a:r>
            <a:r>
              <a:rPr lang="en-IN" sz="5500" dirty="0" err="1"/>
              <a:t>Tunneling</a:t>
            </a:r>
            <a:r>
              <a:rPr lang="en-IN" sz="5500" dirty="0"/>
              <a:t> Detection → Heuristic checks (length, entropy, TXT records)</a:t>
            </a:r>
          </a:p>
          <a:p>
            <a:r>
              <a:rPr lang="en-IN" sz="5500" dirty="0"/>
              <a:t>Upstream Resolution → Forward safe queries, cache response</a:t>
            </a:r>
          </a:p>
          <a:p>
            <a:pPr marL="76200" indent="0">
              <a:buNone/>
            </a:pPr>
            <a:endParaRPr lang="en-IN" sz="5500" dirty="0"/>
          </a:p>
          <a:p>
            <a:pPr marL="76200" indent="0">
              <a:buNone/>
            </a:pPr>
            <a:r>
              <a:rPr lang="en-IN" sz="5500" b="1" dirty="0"/>
              <a:t>Feasibility Study</a:t>
            </a:r>
            <a:endParaRPr lang="en-IN" sz="5500" dirty="0"/>
          </a:p>
          <a:p>
            <a:r>
              <a:rPr lang="en-IN" sz="5500" dirty="0"/>
              <a:t>Technological → Python + </a:t>
            </a:r>
            <a:r>
              <a:rPr lang="en-IN" sz="5500" dirty="0" err="1"/>
              <a:t>dnslib</a:t>
            </a:r>
            <a:r>
              <a:rPr lang="en-IN" sz="5500" dirty="0"/>
              <a:t>, </a:t>
            </a:r>
            <a:r>
              <a:rPr lang="en-IN" sz="5500" dirty="0" err="1"/>
              <a:t>FastAPI</a:t>
            </a:r>
            <a:r>
              <a:rPr lang="en-IN" sz="5500" dirty="0"/>
              <a:t>, scikit-learn, open-source TI feeds</a:t>
            </a:r>
          </a:p>
          <a:p>
            <a:r>
              <a:rPr lang="en-IN" sz="5500" dirty="0"/>
              <a:t>Economic → 100% open-source, no costly infra, runs on laptop/VPS</a:t>
            </a:r>
          </a:p>
          <a:p>
            <a:r>
              <a:rPr lang="en-IN" sz="5500" dirty="0"/>
              <a:t>Resource → Suitable for single developer; lightweight ML, simple cache, focused scope</a:t>
            </a:r>
          </a:p>
          <a:p>
            <a:r>
              <a:rPr lang="en-IN" sz="5500" dirty="0"/>
              <a:t>Outcome → Balanced, reactive + proactive DNS security solution with high performance</a:t>
            </a: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24BF2FC7-358A-9676-9AAF-9DFC365338EF}"/>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4CC9EDC7-68B6-B513-F1EC-7550B4452905}"/>
              </a:ext>
            </a:extLst>
          </p:cNvPr>
          <p:cNvSpPr txBox="1">
            <a:spLocks noGrp="1"/>
          </p:cNvSpPr>
          <p:nvPr>
            <p:ph type="title"/>
          </p:nvPr>
        </p:nvSpPr>
        <p:spPr>
          <a:xfrm>
            <a:off x="761999" y="658096"/>
            <a:ext cx="10668000" cy="487500"/>
          </a:xfrm>
          <a:prstGeom prst="rect">
            <a:avLst/>
          </a:prstGeom>
          <a:noFill/>
          <a:ln>
            <a:noFill/>
          </a:ln>
        </p:spPr>
        <p:txBody>
          <a:bodyPr spcFirstLastPara="1" wrap="square" lIns="91425" tIns="45700" rIns="91425" bIns="45700" anchor="ctr" anchorCtr="0">
            <a:noAutofit/>
          </a:bodyPr>
          <a:lstStyle/>
          <a:p>
            <a:r>
              <a:rPr lang="en-IN" dirty="0"/>
              <a:t>Architecture Diagram</a:t>
            </a:r>
            <a:br>
              <a:rPr lang="en-IN" dirty="0"/>
            </a:b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8ABC1E49-FCFE-726A-594E-C0F6C9CD9247}"/>
              </a:ext>
            </a:extLst>
          </p:cNvPr>
          <p:cNvPicPr>
            <a:picLocks noChangeAspect="1"/>
          </p:cNvPicPr>
          <p:nvPr/>
        </p:nvPicPr>
        <p:blipFill>
          <a:blip r:embed="rId3"/>
          <a:stretch>
            <a:fillRect/>
          </a:stretch>
        </p:blipFill>
        <p:spPr>
          <a:xfrm>
            <a:off x="761537" y="3078449"/>
            <a:ext cx="10668925" cy="701101"/>
          </a:xfrm>
          <a:prstGeom prst="rect">
            <a:avLst/>
          </a:prstGeom>
        </p:spPr>
      </p:pic>
      <p:pic>
        <p:nvPicPr>
          <p:cNvPr id="5" name="Picture 4">
            <a:extLst>
              <a:ext uri="{FF2B5EF4-FFF2-40B4-BE49-F238E27FC236}">
                <a16:creationId xmlns:a16="http://schemas.microsoft.com/office/drawing/2014/main" id="{81B91380-6497-A4CE-5CF9-2AA525A9240D}"/>
              </a:ext>
            </a:extLst>
          </p:cNvPr>
          <p:cNvPicPr>
            <a:picLocks noChangeAspect="1"/>
          </p:cNvPicPr>
          <p:nvPr/>
        </p:nvPicPr>
        <p:blipFill>
          <a:blip r:embed="rId4"/>
          <a:stretch>
            <a:fillRect/>
          </a:stretch>
        </p:blipFill>
        <p:spPr>
          <a:xfrm>
            <a:off x="356993" y="1536290"/>
            <a:ext cx="11478014" cy="4038600"/>
          </a:xfrm>
          <a:prstGeom prst="rect">
            <a:avLst/>
          </a:prstGeom>
        </p:spPr>
      </p:pic>
    </p:spTree>
    <p:extLst>
      <p:ext uri="{BB962C8B-B14F-4D97-AF65-F5344CB8AC3E}">
        <p14:creationId xmlns:p14="http://schemas.microsoft.com/office/powerpoint/2010/main" val="3716098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30E93-FC6E-35C3-BECD-31E12AA8AEB0}"/>
              </a:ext>
            </a:extLst>
          </p:cNvPr>
          <p:cNvSpPr>
            <a:spLocks noGrp="1"/>
          </p:cNvSpPr>
          <p:nvPr>
            <p:ph type="title"/>
          </p:nvPr>
        </p:nvSpPr>
        <p:spPr>
          <a:xfrm>
            <a:off x="711200" y="655501"/>
            <a:ext cx="10668000" cy="487500"/>
          </a:xfrm>
        </p:spPr>
        <p:txBody>
          <a:bodyPr/>
          <a:lstStyle/>
          <a:p>
            <a:r>
              <a:rPr lang="en-IN" dirty="0"/>
              <a:t> Modules</a:t>
            </a:r>
            <a:br>
              <a:rPr lang="en-US" dirty="0">
                <a:latin typeface="Verdana" panose="020B0604030504040204" pitchFamily="34" charset="0"/>
                <a:ea typeface="Verdana" panose="020B0604030504040204" pitchFamily="34" charset="0"/>
              </a:rPr>
            </a:br>
            <a:endParaRPr lang="en-IN" dirty="0"/>
          </a:p>
        </p:txBody>
      </p:sp>
      <p:sp>
        <p:nvSpPr>
          <p:cNvPr id="3" name="Text Placeholder 2">
            <a:extLst>
              <a:ext uri="{FF2B5EF4-FFF2-40B4-BE49-F238E27FC236}">
                <a16:creationId xmlns:a16="http://schemas.microsoft.com/office/drawing/2014/main" id="{5105C7B8-088A-48C2-E931-A709F1A7AD42}"/>
              </a:ext>
            </a:extLst>
          </p:cNvPr>
          <p:cNvSpPr>
            <a:spLocks noGrp="1"/>
          </p:cNvSpPr>
          <p:nvPr>
            <p:ph type="body" idx="1"/>
          </p:nvPr>
        </p:nvSpPr>
        <p:spPr/>
        <p:txBody>
          <a:bodyPr>
            <a:normAutofit fontScale="77500" lnSpcReduction="20000"/>
          </a:bodyPr>
          <a:lstStyle/>
          <a:p>
            <a:r>
              <a:rPr lang="en-IN" dirty="0"/>
              <a:t>The project is divided into the following distinct software modules:</a:t>
            </a:r>
          </a:p>
          <a:p>
            <a:pPr lvl="0" fontAlgn="base"/>
            <a:r>
              <a:rPr lang="en-IN" dirty="0"/>
              <a:t>DNS Server (dns_server.py): Implements the main UDP socket server. Listens for incoming DNS queries, deserializes them, passes them to the Query Handler, and sends back the final response.</a:t>
            </a:r>
          </a:p>
          <a:p>
            <a:pPr lvl="0" fontAlgn="base"/>
            <a:r>
              <a:rPr lang="en-IN" dirty="0"/>
              <a:t>Query Handler (query_handler.py): Contains the core logic for the filtering pipeline. It invokes the cache, TI, ML, and tunnelling modules in sequence.</a:t>
            </a:r>
          </a:p>
          <a:p>
            <a:pPr lvl="0" fontAlgn="base"/>
            <a:r>
              <a:rPr lang="en-IN" dirty="0"/>
              <a:t>Cache Manager (cache_manager.py): Implements an LRU cache with TTL support. Provides get() and set() methods.</a:t>
            </a:r>
          </a:p>
          <a:p>
            <a:pPr lvl="0" fontAlgn="base"/>
            <a:r>
              <a:rPr lang="en-IN" dirty="0"/>
              <a:t>Threat Intelligence Client (threat_intel_client.py): Fetches blocklists from external APIs on a schedule and loads them into a Python set for O(1) average time complexity lookups.</a:t>
            </a:r>
          </a:p>
          <a:p>
            <a:pPr lvl="0" fontAlgn="base"/>
            <a:r>
              <a:rPr lang="en-IN" dirty="0"/>
              <a:t>ML Classifier (ml_classifier.py): Loads the pre-trained DGA detection model and contains functions for feature extraction and prediction.</a:t>
            </a:r>
          </a:p>
          <a:p>
            <a:pPr lvl="0" fontAlgn="base"/>
            <a:r>
              <a:rPr lang="en-IN" dirty="0"/>
              <a:t>Dashboard Application (dashboard_app.py): A </a:t>
            </a:r>
            <a:r>
              <a:rPr lang="en-IN" dirty="0" err="1"/>
              <a:t>FastAPI</a:t>
            </a:r>
            <a:r>
              <a:rPr lang="en-IN" dirty="0"/>
              <a:t>/Flask application that serves the web dashboard and provides API endpoints for stats and manual lookups.</a:t>
            </a:r>
          </a:p>
          <a:p>
            <a:pPr lvl="0" fontAlgn="base"/>
            <a:r>
              <a:rPr lang="en-IN" dirty="0"/>
              <a:t>Logging Module (logger.py): A centralized utility that writes structured logs to a file, capturing details of every blocked query.</a:t>
            </a:r>
          </a:p>
          <a:p>
            <a:endParaRPr lang="en-IN" dirty="0"/>
          </a:p>
        </p:txBody>
      </p:sp>
    </p:spTree>
    <p:extLst>
      <p:ext uri="{BB962C8B-B14F-4D97-AF65-F5344CB8AC3E}">
        <p14:creationId xmlns:p14="http://schemas.microsoft.com/office/powerpoint/2010/main" val="3658468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25AD5-A5D6-3DFC-DB37-112D10B10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9FDAB-A694-D2E3-CBAF-395E60149F5D}"/>
              </a:ext>
            </a:extLst>
          </p:cNvPr>
          <p:cNvSpPr>
            <a:spLocks noGrp="1"/>
          </p:cNvSpPr>
          <p:nvPr>
            <p:ph type="title"/>
          </p:nvPr>
        </p:nvSpPr>
        <p:spPr>
          <a:xfrm>
            <a:off x="711200" y="655501"/>
            <a:ext cx="10668000" cy="487500"/>
          </a:xfrm>
        </p:spPr>
        <p:txBody>
          <a:bodyPr/>
          <a:lstStyle/>
          <a:p>
            <a:r>
              <a:rPr lang="en-IN" dirty="0"/>
              <a:t>Hardware and Software Details</a:t>
            </a:r>
            <a:br>
              <a:rPr lang="en-IN" dirty="0"/>
            </a:br>
            <a:endParaRPr lang="en-IN" dirty="0"/>
          </a:p>
        </p:txBody>
      </p:sp>
      <p:sp>
        <p:nvSpPr>
          <p:cNvPr id="3" name="Text Placeholder 2">
            <a:extLst>
              <a:ext uri="{FF2B5EF4-FFF2-40B4-BE49-F238E27FC236}">
                <a16:creationId xmlns:a16="http://schemas.microsoft.com/office/drawing/2014/main" id="{E6C5DB7D-8060-4248-57EB-EA002810A669}"/>
              </a:ext>
            </a:extLst>
          </p:cNvPr>
          <p:cNvSpPr>
            <a:spLocks noGrp="1"/>
          </p:cNvSpPr>
          <p:nvPr>
            <p:ph type="body" idx="1"/>
          </p:nvPr>
        </p:nvSpPr>
        <p:spPr/>
        <p:txBody>
          <a:bodyPr>
            <a:normAutofit/>
          </a:bodyPr>
          <a:lstStyle/>
          <a:p>
            <a:pPr lvl="0" fontAlgn="base"/>
            <a:r>
              <a:rPr lang="en-IN" b="1" dirty="0"/>
              <a:t>Hardware Requirements:</a:t>
            </a:r>
            <a:endParaRPr lang="en-IN" dirty="0"/>
          </a:p>
          <a:p>
            <a:pPr lvl="1" fontAlgn="base"/>
            <a:r>
              <a:rPr lang="en-IN" dirty="0"/>
              <a:t>Processor: Intel Core i5 / AMD </a:t>
            </a:r>
            <a:r>
              <a:rPr lang="en-IN" dirty="0" err="1"/>
              <a:t>Ryzen</a:t>
            </a:r>
            <a:r>
              <a:rPr lang="en-IN" dirty="0"/>
              <a:t> 5 or equivalent.</a:t>
            </a:r>
          </a:p>
          <a:p>
            <a:pPr lvl="1" fontAlgn="base"/>
            <a:r>
              <a:rPr lang="en-IN" dirty="0"/>
              <a:t>RAM: 8 GB minimum.</a:t>
            </a:r>
          </a:p>
          <a:p>
            <a:pPr lvl="1" fontAlgn="base"/>
            <a:r>
              <a:rPr lang="en-IN" dirty="0"/>
              <a:t>Storage: 50 GB SSD.</a:t>
            </a:r>
          </a:p>
          <a:p>
            <a:pPr lvl="0" fontAlgn="base"/>
            <a:r>
              <a:rPr lang="en-IN" b="1" dirty="0"/>
              <a:t>Software Requirements:</a:t>
            </a:r>
            <a:endParaRPr lang="en-IN" dirty="0"/>
          </a:p>
          <a:p>
            <a:pPr lvl="1" fontAlgn="base"/>
            <a:r>
              <a:rPr lang="en-IN" dirty="0"/>
              <a:t>OS: Windows 10/11, macOS, or Linux.</a:t>
            </a:r>
          </a:p>
          <a:p>
            <a:pPr lvl="1" fontAlgn="base"/>
            <a:r>
              <a:rPr lang="en-IN" dirty="0"/>
              <a:t>Language: Python 3.9+</a:t>
            </a:r>
          </a:p>
          <a:p>
            <a:pPr lvl="1" fontAlgn="base"/>
            <a:r>
              <a:rPr lang="en-IN" dirty="0"/>
              <a:t>Libraries: </a:t>
            </a:r>
            <a:r>
              <a:rPr lang="en-IN" dirty="0" err="1"/>
              <a:t>FastAPI</a:t>
            </a:r>
            <a:r>
              <a:rPr lang="en-IN" dirty="0"/>
              <a:t>, </a:t>
            </a:r>
            <a:r>
              <a:rPr lang="en-IN" dirty="0" err="1"/>
              <a:t>Uvicorn</a:t>
            </a:r>
            <a:r>
              <a:rPr lang="en-IN" dirty="0"/>
              <a:t>, </a:t>
            </a:r>
            <a:r>
              <a:rPr lang="en-IN" dirty="0" err="1"/>
              <a:t>dnslib</a:t>
            </a:r>
            <a:r>
              <a:rPr lang="en-IN" dirty="0"/>
              <a:t>, scikit-learn, pandas, </a:t>
            </a:r>
            <a:r>
              <a:rPr lang="en-IN" dirty="0" err="1"/>
              <a:t>numpy</a:t>
            </a:r>
            <a:r>
              <a:rPr lang="en-IN" dirty="0"/>
              <a:t>, </a:t>
            </a:r>
            <a:r>
              <a:rPr lang="en-IN" dirty="0" err="1"/>
              <a:t>cachetools</a:t>
            </a:r>
            <a:r>
              <a:rPr lang="en-IN" dirty="0"/>
              <a:t>, requests.</a:t>
            </a:r>
          </a:p>
          <a:p>
            <a:pPr lvl="1" fontAlgn="base"/>
            <a:r>
              <a:rPr lang="en-IN" dirty="0"/>
              <a:t>Frontend: HTML5, CSS3, Bootstrap 5, JavaScript.</a:t>
            </a:r>
          </a:p>
          <a:p>
            <a:pPr lvl="1" fontAlgn="base"/>
            <a:r>
              <a:rPr lang="en-IN" dirty="0"/>
              <a:t>Development Environment: VS Code.</a:t>
            </a:r>
          </a:p>
          <a:p>
            <a:pPr lvl="1" fontAlgn="base"/>
            <a:r>
              <a:rPr lang="en-IN" dirty="0"/>
              <a:t>Version Control: Git.</a:t>
            </a:r>
          </a:p>
          <a:p>
            <a:endParaRPr lang="en-IN" dirty="0"/>
          </a:p>
        </p:txBody>
      </p:sp>
    </p:spTree>
    <p:extLst>
      <p:ext uri="{BB962C8B-B14F-4D97-AF65-F5344CB8AC3E}">
        <p14:creationId xmlns:p14="http://schemas.microsoft.com/office/powerpoint/2010/main" val="469950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762000" y="412290"/>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B4C9F49F-BEEE-FB04-6E3F-E4BD59A639E8}"/>
              </a:ext>
            </a:extLst>
          </p:cNvPr>
          <p:cNvPicPr>
            <a:picLocks noChangeAspect="1"/>
          </p:cNvPicPr>
          <p:nvPr/>
        </p:nvPicPr>
        <p:blipFill>
          <a:blip r:embed="rId3"/>
          <a:stretch>
            <a:fillRect/>
          </a:stretch>
        </p:blipFill>
        <p:spPr>
          <a:xfrm>
            <a:off x="876694" y="1089058"/>
            <a:ext cx="10341204" cy="4764987"/>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3EA5067-4C2E-C164-D411-AC31F16447DE}"/>
            </a:ext>
          </a:extLst>
        </p:cNvPr>
        <p:cNvGrpSpPr/>
        <p:nvPr/>
      </p:nvGrpSpPr>
      <p:grpSpPr>
        <a:xfrm>
          <a:off x="0" y="0"/>
          <a:ext cx="0" cy="0"/>
          <a:chOff x="0" y="0"/>
          <a:chExt cx="0" cy="0"/>
        </a:xfrm>
      </p:grpSpPr>
      <p:sp>
        <p:nvSpPr>
          <p:cNvPr id="144" name="Google Shape;144;p22">
            <a:extLst>
              <a:ext uri="{FF2B5EF4-FFF2-40B4-BE49-F238E27FC236}">
                <a16:creationId xmlns:a16="http://schemas.microsoft.com/office/drawing/2014/main" id="{996BA5BD-C183-369E-9D2A-EA2B8C51F6FA}"/>
              </a:ext>
            </a:extLst>
          </p:cNvPr>
          <p:cNvSpPr txBox="1">
            <a:spLocks noGrp="1"/>
          </p:cNvSpPr>
          <p:nvPr>
            <p:ph type="title"/>
          </p:nvPr>
        </p:nvSpPr>
        <p:spPr>
          <a:xfrm>
            <a:off x="812800" y="274638"/>
            <a:ext cx="10668000" cy="787246"/>
          </a:xfrm>
          <a:prstGeom prst="rect">
            <a:avLst/>
          </a:prstGeom>
          <a:noFill/>
          <a:ln>
            <a:noFill/>
          </a:ln>
        </p:spPr>
        <p:txBody>
          <a:bodyPr spcFirstLastPara="1" wrap="square" lIns="91425" tIns="45700" rIns="91425" bIns="45700" anchor="ctr" anchorCtr="0">
            <a:noAutofit/>
          </a:bodyPr>
          <a:lstStyle/>
          <a:p>
            <a:pPr lvl="0"/>
            <a:r>
              <a:rPr lang="en-GB" dirty="0">
                <a:latin typeface="Verdana" panose="020B0604030504040204" pitchFamily="34" charset="0"/>
                <a:ea typeface="Verdana" panose="020B0604030504040204" pitchFamily="34" charset="0"/>
              </a:rPr>
              <a:t>References (IEEE Paper format)</a:t>
            </a:r>
            <a:endParaRPr dirty="0">
              <a:latin typeface="Verdana" panose="020B0604030504040204" pitchFamily="34" charset="0"/>
              <a:ea typeface="Verdana" panose="020B0604030504040204" pitchFamily="34" charset="0"/>
            </a:endParaRPr>
          </a:p>
        </p:txBody>
      </p:sp>
      <p:sp>
        <p:nvSpPr>
          <p:cNvPr id="145" name="Google Shape;145;p22">
            <a:extLst>
              <a:ext uri="{FF2B5EF4-FFF2-40B4-BE49-F238E27FC236}">
                <a16:creationId xmlns:a16="http://schemas.microsoft.com/office/drawing/2014/main" id="{C0157F2A-9194-E559-C978-9C96038724E0}"/>
              </a:ext>
            </a:extLst>
          </p:cNvPr>
          <p:cNvSpPr txBox="1">
            <a:spLocks noGrp="1"/>
          </p:cNvSpPr>
          <p:nvPr>
            <p:ph type="body" idx="1"/>
          </p:nvPr>
        </p:nvSpPr>
        <p:spPr>
          <a:xfrm>
            <a:off x="589936" y="1061884"/>
            <a:ext cx="10890864" cy="5329083"/>
          </a:xfrm>
          <a:prstGeom prst="rect">
            <a:avLst/>
          </a:prstGeom>
          <a:noFill/>
          <a:ln>
            <a:noFill/>
          </a:ln>
        </p:spPr>
        <p:txBody>
          <a:bodyPr spcFirstLastPara="1" wrap="square" lIns="91425" tIns="45700" rIns="91425" bIns="45700" anchor="t" anchorCtr="0">
            <a:normAutofit fontScale="92500" lnSpcReduction="20000"/>
          </a:bodyPr>
          <a:lstStyle/>
          <a:p>
            <a:r>
              <a:rPr lang="en-US" dirty="0"/>
              <a:t>[1] Y.-D. Yan, J.-F. Xue, J.-W. Zhong, Z.-Y. Liu, Y. Wang, and D. Cheng, “Malicious Domain Detection Based on Machine Learning,” </a:t>
            </a:r>
            <a:r>
              <a:rPr lang="en-US" dirty="0" err="1"/>
              <a:t>dtcse</a:t>
            </a:r>
            <a:r>
              <a:rPr lang="en-US" dirty="0"/>
              <a:t>, no. </a:t>
            </a:r>
            <a:r>
              <a:rPr lang="en-US" dirty="0" err="1"/>
              <a:t>iceit</a:t>
            </a:r>
            <a:r>
              <a:rPr lang="en-US" dirty="0"/>
              <a:t>, Mar. 2018, </a:t>
            </a:r>
            <a:r>
              <a:rPr lang="en-US" dirty="0" err="1"/>
              <a:t>doi</a:t>
            </a:r>
            <a:r>
              <a:rPr lang="en-US" dirty="0"/>
              <a:t>: 10.12783/</a:t>
            </a:r>
            <a:r>
              <a:rPr lang="en-US" dirty="0" err="1"/>
              <a:t>dtcse</a:t>
            </a:r>
            <a:r>
              <a:rPr lang="en-US" dirty="0"/>
              <a:t>/</a:t>
            </a:r>
            <a:r>
              <a:rPr lang="en-US"/>
              <a:t>iceit2017/19866.</a:t>
            </a:r>
            <a:endParaRPr lang="en-IN" dirty="0"/>
          </a:p>
          <a:p>
            <a:r>
              <a:rPr lang="en-US" dirty="0"/>
              <a:t>[2] Y. Cheng, N. Li, Y. Liu, C. Li, Y. Du, and Z. Zhang, “In-Depth Evaluation of the Impact of National-Level DNS Filtering on DNS Resolvers over Space and Time,” Electronics, vol. 11, no. 8, p. 1276, Apr. 2022, </a:t>
            </a:r>
            <a:r>
              <a:rPr lang="en-US" dirty="0" err="1"/>
              <a:t>doi</a:t>
            </a:r>
            <a:r>
              <a:rPr lang="en-US" dirty="0"/>
              <a:t>: 10.3390/electronics11081276.</a:t>
            </a:r>
            <a:endParaRPr lang="en-IN" dirty="0"/>
          </a:p>
          <a:p>
            <a:r>
              <a:rPr lang="en-US" dirty="0"/>
              <a:t>[3] D. </a:t>
            </a:r>
            <a:r>
              <a:rPr lang="en-US" dirty="0" err="1"/>
              <a:t>Chepel</a:t>
            </a:r>
            <a:r>
              <a:rPr lang="en-US" dirty="0"/>
              <a:t> and S. Malakhov, “Summary of DNS traffic filtering trends as a component of modern information systems security,” </a:t>
            </a:r>
            <a:r>
              <a:rPr lang="en-US" dirty="0" err="1"/>
              <a:t>CS&amp;amp;CS</a:t>
            </a:r>
            <a:r>
              <a:rPr lang="en-US" dirty="0"/>
              <a:t> E-journal, no. 1, pp. 6–21, Sept. 2024, </a:t>
            </a:r>
            <a:r>
              <a:rPr lang="en-US" dirty="0" err="1"/>
              <a:t>doi</a:t>
            </a:r>
            <a:r>
              <a:rPr lang="en-US" dirty="0"/>
              <a:t>: 10.26565/2519-2310-2024-1-01. </a:t>
            </a:r>
            <a:endParaRPr lang="en-IN" dirty="0"/>
          </a:p>
          <a:p>
            <a:r>
              <a:rPr lang="en-US" dirty="0"/>
              <a:t>[4] A. </a:t>
            </a:r>
            <a:r>
              <a:rPr lang="en-US" dirty="0" err="1"/>
              <a:t>Hounsel</a:t>
            </a:r>
            <a:r>
              <a:rPr lang="en-US" dirty="0"/>
              <a:t>, K. </a:t>
            </a:r>
            <a:r>
              <a:rPr lang="en-US" dirty="0" err="1"/>
              <a:t>Borgolte</a:t>
            </a:r>
            <a:r>
              <a:rPr lang="en-US" dirty="0"/>
              <a:t>, P. Schmitt, J. Holland, and N. Feamster, “Comparing the Effects of DNS, DoT, and </a:t>
            </a:r>
            <a:r>
              <a:rPr lang="en-US" dirty="0" err="1"/>
              <a:t>DoH</a:t>
            </a:r>
            <a:r>
              <a:rPr lang="en-US" dirty="0"/>
              <a:t> on Web Performance,” July 18, 2019. </a:t>
            </a:r>
            <a:r>
              <a:rPr lang="en-US" dirty="0" err="1"/>
              <a:t>doi</a:t>
            </a:r>
            <a:r>
              <a:rPr lang="en-US" dirty="0"/>
              <a:t>: 10.48550/arxiv.1907.08089. </a:t>
            </a:r>
            <a:endParaRPr lang="en-IN" dirty="0"/>
          </a:p>
          <a:p>
            <a:r>
              <a:rPr lang="en-US" dirty="0"/>
              <a:t>[5] R. Mitsuhashi, Y. Takai, T. Shinagawa, K. Iida, and Y. Jin, “Malicious DNS Tunnel Tool Recognition Using Persistent </a:t>
            </a:r>
            <a:r>
              <a:rPr lang="en-US" dirty="0" err="1"/>
              <a:t>DoH</a:t>
            </a:r>
            <a:r>
              <a:rPr lang="en-US" dirty="0"/>
              <a:t> Traffic Analysis,” IEEE Trans. </a:t>
            </a:r>
            <a:r>
              <a:rPr lang="en-US" dirty="0" err="1"/>
              <a:t>Netw</a:t>
            </a:r>
            <a:r>
              <a:rPr lang="en-US" dirty="0"/>
              <a:t>. Serv. Manage., vol. 20, no. 2, pp. 2086–2095, June 2023, </a:t>
            </a:r>
            <a:r>
              <a:rPr lang="en-US" dirty="0" err="1"/>
              <a:t>doi</a:t>
            </a:r>
            <a:r>
              <a:rPr lang="en-US" dirty="0"/>
              <a:t>: 10.1109/tnsm.2022.3215681.</a:t>
            </a:r>
            <a:endParaRPr lang="en-IN" dirty="0"/>
          </a:p>
          <a:p>
            <a:pPr marL="152400" indent="0">
              <a:spcBef>
                <a:spcPts val="0"/>
              </a:spcBef>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05412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365</TotalTime>
  <Words>1167</Words>
  <Application>Microsoft Office PowerPoint</Application>
  <PresentationFormat>Widescreen</PresentationFormat>
  <Paragraphs>99</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Cambria</vt:lpstr>
      <vt:lpstr>Verdana</vt:lpstr>
      <vt:lpstr>Wingdings</vt:lpstr>
      <vt:lpstr>Bioinformatics</vt:lpstr>
      <vt:lpstr>Domain Name Server (DNS) Filtering Service using Threat Intelligence feeds and AI/ML Techniques</vt:lpstr>
      <vt:lpstr>Content</vt:lpstr>
      <vt:lpstr>Abstract</vt:lpstr>
      <vt:lpstr>Objectives</vt:lpstr>
      <vt:lpstr>Existing Methods and Drawbacks </vt:lpstr>
      <vt:lpstr>Proposed Method &amp; Feasibility Study </vt:lpstr>
      <vt:lpstr>Architecture Diagram </vt:lpstr>
      <vt:lpstr> Modules </vt:lpstr>
      <vt:lpstr>Hardware and Software Details </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Saish Savadatti</cp:lastModifiedBy>
  <cp:revision>48</cp:revision>
  <dcterms:modified xsi:type="dcterms:W3CDTF">2025-11-25T15:51:07Z</dcterms:modified>
</cp:coreProperties>
</file>